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7" r:id="rId7"/>
    <p:sldId id="261" r:id="rId8"/>
    <p:sldId id="268" r:id="rId9"/>
    <p:sldId id="262" r:id="rId10"/>
    <p:sldId id="263" r:id="rId11"/>
    <p:sldId id="264" r:id="rId12"/>
    <p:sldId id="269" r:id="rId13"/>
    <p:sldId id="265" r:id="rId14"/>
    <p:sldId id="266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5033" autoAdjust="0"/>
  </p:normalViewPr>
  <p:slideViewPr>
    <p:cSldViewPr snapToGrid="0">
      <p:cViewPr varScale="1">
        <p:scale>
          <a:sx n="78" d="100"/>
          <a:sy n="78" d="100"/>
        </p:scale>
        <p:origin x="85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AD6177-CAEF-4E70-8DEE-78C553712586}" type="datetimeFigureOut">
              <a:rPr lang="en-GB" smtClean="0"/>
              <a:t>31/05/2026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CC3EDED-0833-4F63-A997-9302F708B90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81814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C3EDED-0833-4F63-A997-9302F708B90C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45618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04593-9A17-3CCD-F2CC-B6730941C0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8F0453-3CF1-EB13-E60E-6C7329B993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6B9F77-CCFA-F180-8279-AC69FEEC43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7B1B5-114F-462F-9F43-A96471EB3E77}" type="datetimeFigureOut">
              <a:rPr lang="en-GB" smtClean="0"/>
              <a:t>31/05/2026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ECAFA-8062-BD65-D9A8-BD72A92CD9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9D4475-BC0E-14B1-1574-B9BDE369C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09E3F-7020-4DD0-B2E1-F5824D8C0E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11538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3B0AC-B5FC-9EE8-A353-D8301A4FA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DC0B89-910C-872A-8125-83C5DFE36B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1FF001-C265-565B-3F1A-80F87B9D4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7B1B5-114F-462F-9F43-A96471EB3E77}" type="datetimeFigureOut">
              <a:rPr lang="en-GB" smtClean="0"/>
              <a:t>31/05/2026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361182-18BC-836E-1AAA-EBCDC17B17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043061-F7D7-47F7-01C6-27622EFF3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09E3F-7020-4DD0-B2E1-F5824D8C0E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54230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53552-A478-7FB5-D7C0-B398246904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5BCC44-FB67-EEBA-9996-657A5B29B3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B49DAC-417A-9353-C65D-8E9D9B1B0E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7B1B5-114F-462F-9F43-A96471EB3E77}" type="datetimeFigureOut">
              <a:rPr lang="en-GB" smtClean="0"/>
              <a:t>31/05/2026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1E275C-9DA8-7706-AD01-628C93B48E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03A39B-BC54-0ECE-8408-37B4AFC95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09E3F-7020-4DD0-B2E1-F5824D8C0E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79634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B835AD-EF0C-7993-ED32-FDD2747130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D66482-6E33-B79E-F14B-164C26CD21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8ED5A3-C039-CCDD-2263-5E1E181434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F756DB-78FD-03C4-AB17-C137ABE8AC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7B1B5-114F-462F-9F43-A96471EB3E77}" type="datetimeFigureOut">
              <a:rPr lang="en-GB" smtClean="0"/>
              <a:t>31/05/2026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092DE6-6E1B-94D1-8A1E-9CF4A026A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C3AFF5-4FBF-FAC7-35EA-2299F4A81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09E3F-7020-4DD0-B2E1-F5824D8C0E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70146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6D3F78-C447-4DBC-637B-9E020BEF8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BF5C2A-D429-E026-4B65-44DA17B538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F0C504-3175-0207-BE02-0513E28E2F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64D7BB-2C29-581E-54E0-621FB777E12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992CF51-A1BB-89D7-9ADE-2A2A66F690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04DFB57-578E-E0A7-EDEF-2D7FC65909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7B1B5-114F-462F-9F43-A96471EB3E77}" type="datetimeFigureOut">
              <a:rPr lang="en-GB" smtClean="0"/>
              <a:t>31/05/2026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48AF799-4AA3-374C-4363-9F15021492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3FC8277-09A1-67DA-33F3-9897065EF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09E3F-7020-4DD0-B2E1-F5824D8C0E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6498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49ABF-8C19-EA87-E93B-57CE6FD925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7144E57-6A58-7708-987D-F6CF5C2FD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7B1B5-114F-462F-9F43-A96471EB3E77}" type="datetimeFigureOut">
              <a:rPr lang="en-GB" smtClean="0"/>
              <a:t>31/05/2026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2E79E9-D5AA-64D0-32C5-BF14002C37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2B360C-6DB2-0187-0828-CDEA22B1B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09E3F-7020-4DD0-B2E1-F5824D8C0E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2869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6ACE59D-C419-5699-C7FE-31801CA569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7B1B5-114F-462F-9F43-A96471EB3E77}" type="datetimeFigureOut">
              <a:rPr lang="en-GB" smtClean="0"/>
              <a:t>31/05/2026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3D07B1D-F7AA-BAAE-A0B4-C411740E1F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CEC117-239C-6EE5-BACF-DD59CE2F9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09E3F-7020-4DD0-B2E1-F5824D8C0E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84039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45CE61-86FC-6208-68CF-EFBD88F550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979387-BE3E-2E11-61CF-7DFF36D904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484D61-1124-9EED-A6E0-6316AD07E0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7FC072-533A-ADF6-788E-EB74BF4045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7B1B5-114F-462F-9F43-A96471EB3E77}" type="datetimeFigureOut">
              <a:rPr lang="en-GB" smtClean="0"/>
              <a:t>31/05/2026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86263B-DF58-D54F-BEFB-356B3F8CB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747186-9E11-1EE7-9AB2-EBC76CEB8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09E3F-7020-4DD0-B2E1-F5824D8C0E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51386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DF05A-0756-856E-A115-DA34273B24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C3D5BD8-863D-8D14-2127-C0A74C3CCF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B0F512-BFF5-8BB1-CC1B-FADF9220D4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0996A0-9A07-59BE-3441-D591DDA210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7B1B5-114F-462F-9F43-A96471EB3E77}" type="datetimeFigureOut">
              <a:rPr lang="en-GB" smtClean="0"/>
              <a:t>31/05/2026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8FAB2D-E31A-C607-EB58-3014A3E6EA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3F4355-B4D5-1BE3-8556-06C45201A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09E3F-7020-4DD0-B2E1-F5824D8C0E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95447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EC9154-D92F-3BBA-CE9C-6DE8B2EF4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7CB3EA-4F57-BAFE-11BF-3124F074DC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F74B3F-356B-5425-E0E2-49F72DE2A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7B1B5-114F-462F-9F43-A96471EB3E77}" type="datetimeFigureOut">
              <a:rPr lang="en-GB" smtClean="0"/>
              <a:t>31/05/2026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DE8563-5042-C8EA-3CC9-7DE9D6528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7E5157-5981-5D12-1C36-20E9330CE4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09E3F-7020-4DD0-B2E1-F5824D8C0E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90503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8CB0073-839B-183E-6ADD-BDCBA5EBA66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82EE59-BF67-D24F-A573-69CB7815A2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E296B6-7944-F546-115A-7356C36982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7B1B5-114F-462F-9F43-A96471EB3E77}" type="datetimeFigureOut">
              <a:rPr lang="en-GB" smtClean="0"/>
              <a:t>31/05/2026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0B9405-454C-AF61-8B09-F8DB6327B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9F8676-E1DE-A1CE-05C8-9071DA821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09E3F-7020-4DD0-B2E1-F5824D8C0E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41575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9D50CC4-447B-B5A7-C552-147252B2E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BDD0C1-186E-9594-6C7A-9DD42E09C1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C31424-0D1B-79F7-817E-F0E853BD9D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27B1B5-114F-462F-9F43-A96471EB3E77}" type="datetimeFigureOut">
              <a:rPr lang="en-GB" smtClean="0"/>
              <a:t>31/05/2026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92E463-7D50-B074-F0D9-6ABE630B7D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BD63B-D878-4A32-B422-2334B446ED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209E3F-7020-4DD0-B2E1-F5824D8C0E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22656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care-healthcare-dashboard.streamlit.app/" TargetMode="External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440CD0-CA02-870A-881E-AD5144EEA6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86348" y="558467"/>
            <a:ext cx="9144000" cy="1217714"/>
          </a:xfrm>
        </p:spPr>
        <p:txBody>
          <a:bodyPr>
            <a:normAutofit/>
          </a:bodyPr>
          <a:lstStyle/>
          <a:p>
            <a:pPr algn="l"/>
            <a:r>
              <a:rPr lang="en-GB" sz="4000" b="1" dirty="0"/>
              <a:t>Healthcare Analytics Pipeline Project</a:t>
            </a:r>
            <a:br>
              <a:rPr lang="en-GB" sz="4000" b="1" dirty="0"/>
            </a:br>
            <a:r>
              <a:rPr lang="en-GB" sz="4000" b="1" dirty="0"/>
              <a:t>for Medicare Hospital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549426-1D11-FAB7-3571-B135365C80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86348" y="2310580"/>
            <a:ext cx="9144000" cy="3880798"/>
          </a:xfrm>
        </p:spPr>
        <p:txBody>
          <a:bodyPr/>
          <a:lstStyle/>
          <a:p>
            <a:pPr algn="l"/>
            <a:r>
              <a:rPr lang="en-GB" sz="2000" b="1" dirty="0"/>
              <a:t>Capstone Project</a:t>
            </a:r>
          </a:p>
          <a:p>
            <a:pPr algn="l"/>
            <a:endParaRPr lang="en-GB" sz="2000" b="1" dirty="0"/>
          </a:p>
          <a:p>
            <a:pPr algn="l"/>
            <a:r>
              <a:rPr lang="en-GB" dirty="0"/>
              <a:t>Post Graduate Diploma in Data Engineering (PGDDE)</a:t>
            </a:r>
            <a:br>
              <a:rPr lang="en-GB" dirty="0"/>
            </a:br>
            <a:r>
              <a:rPr lang="en-GB" dirty="0"/>
              <a:t>IIT Jodhpur</a:t>
            </a:r>
          </a:p>
          <a:p>
            <a:pPr algn="l"/>
            <a:endParaRPr lang="en-GB" dirty="0"/>
          </a:p>
          <a:p>
            <a:pPr algn="l"/>
            <a:r>
              <a:rPr lang="en-GB" sz="2000" b="1" dirty="0"/>
              <a:t>Submitted By</a:t>
            </a:r>
          </a:p>
          <a:p>
            <a:pPr algn="l"/>
            <a:r>
              <a:rPr lang="en-GB" sz="1800" dirty="0"/>
              <a:t>Arpit Sharma (G25AI1012)</a:t>
            </a:r>
            <a:br>
              <a:rPr lang="en-GB" sz="1800" dirty="0"/>
            </a:br>
            <a:r>
              <a:rPr lang="en-GB" sz="1800" dirty="0"/>
              <a:t>Ankita Dwivedi (G25AI1011)</a:t>
            </a:r>
            <a:br>
              <a:rPr lang="en-GB" sz="1800" dirty="0"/>
            </a:br>
            <a:r>
              <a:rPr lang="en-GB" sz="1800" dirty="0"/>
              <a:t>Astosh Ranjan (G25AI1013)</a:t>
            </a:r>
            <a:br>
              <a:rPr lang="en-GB" sz="1800" dirty="0"/>
            </a:br>
            <a:r>
              <a:rPr lang="en-GB" sz="1800" dirty="0"/>
              <a:t>Bharat Sharma (G25AI1014)</a:t>
            </a:r>
            <a:br>
              <a:rPr lang="en-GB" sz="1800" dirty="0"/>
            </a:br>
            <a:r>
              <a:rPr lang="en-GB" sz="1800" dirty="0"/>
              <a:t>Damini Khatri (G25AI1015)</a:t>
            </a:r>
          </a:p>
          <a:p>
            <a:pPr algn="l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607751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486A601D-D82D-E8B5-A89F-14B93464090B}"/>
              </a:ext>
            </a:extLst>
          </p:cNvPr>
          <p:cNvSpPr txBox="1"/>
          <p:nvPr/>
        </p:nvSpPr>
        <p:spPr>
          <a:xfrm>
            <a:off x="855407" y="792350"/>
            <a:ext cx="10245213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b="1" dirty="0"/>
              <a:t>Problem Statement</a:t>
            </a:r>
          </a:p>
          <a:p>
            <a:endParaRPr lang="en-GB" sz="2400" dirty="0"/>
          </a:p>
          <a:p>
            <a:r>
              <a:rPr lang="en-GB" sz="2000" dirty="0"/>
              <a:t>• Healthcare data is generated from multiple sources.</a:t>
            </a:r>
          </a:p>
          <a:p>
            <a:r>
              <a:rPr lang="en-GB" sz="2000" dirty="0"/>
              <a:t>• Manual processing is slow and inefficient.</a:t>
            </a:r>
          </a:p>
          <a:p>
            <a:r>
              <a:rPr lang="en-GB" sz="2000" dirty="0"/>
              <a:t>• Data is often fragmented across systems.</a:t>
            </a:r>
          </a:p>
          <a:p>
            <a:r>
              <a:rPr lang="en-GB" sz="2000" dirty="0"/>
              <a:t>• Real-time analytics and reporting are difficult.</a:t>
            </a:r>
          </a:p>
          <a:p>
            <a:r>
              <a:rPr lang="en-GB" sz="2000" dirty="0"/>
              <a:t>• Need for an automated and scalable solution.</a:t>
            </a:r>
          </a:p>
          <a:p>
            <a:endParaRPr lang="en-GB" sz="2400" dirty="0"/>
          </a:p>
          <a:p>
            <a:r>
              <a:rPr lang="en-GB" sz="3200" b="1" dirty="0"/>
              <a:t>Objective</a:t>
            </a:r>
          </a:p>
          <a:p>
            <a:endParaRPr lang="en-GB" sz="3200" dirty="0"/>
          </a:p>
          <a:p>
            <a:r>
              <a:rPr lang="en-GB" sz="2000" dirty="0"/>
              <a:t>• Build an end-to-end Healthcare Analytics Pipeline.</a:t>
            </a:r>
            <a:br>
              <a:rPr lang="en-GB" sz="2000" dirty="0"/>
            </a:br>
            <a:r>
              <a:rPr lang="en-GB" sz="2000" dirty="0"/>
              <a:t>• Automate data ingestion, processing and analytics.</a:t>
            </a:r>
            <a:br>
              <a:rPr lang="en-GB" sz="2000" dirty="0"/>
            </a:br>
            <a:r>
              <a:rPr lang="en-GB" sz="2000" dirty="0"/>
              <a:t>• Generate business insights using dashboards and machine learning.</a:t>
            </a:r>
            <a:br>
              <a:rPr lang="en-GB" sz="2000" dirty="0"/>
            </a:br>
            <a:r>
              <a:rPr lang="en-GB" sz="2000" dirty="0"/>
              <a:t>• Enable scalable and cloud-based healthcare analytics.</a:t>
            </a:r>
          </a:p>
        </p:txBody>
      </p:sp>
    </p:spTree>
    <p:extLst>
      <p:ext uri="{BB962C8B-B14F-4D97-AF65-F5344CB8AC3E}">
        <p14:creationId xmlns:p14="http://schemas.microsoft.com/office/powerpoint/2010/main" val="38414265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EB4572C8-AA43-1CD6-AEA6-E125AFD33848}"/>
              </a:ext>
            </a:extLst>
          </p:cNvPr>
          <p:cNvSpPr txBox="1"/>
          <p:nvPr/>
        </p:nvSpPr>
        <p:spPr>
          <a:xfrm>
            <a:off x="6027174" y="1197620"/>
            <a:ext cx="6096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/>
              <a:t>Project Architecture</a:t>
            </a:r>
          </a:p>
          <a:p>
            <a:endParaRPr lang="en-US" sz="3200" b="1" dirty="0"/>
          </a:p>
          <a:p>
            <a:r>
              <a:rPr lang="en-US" sz="2000" dirty="0"/>
              <a:t>• Cloud-based end-to-end analytics pipeline</a:t>
            </a:r>
          </a:p>
          <a:p>
            <a:r>
              <a:rPr lang="en-US" sz="2000" dirty="0"/>
              <a:t>• Real-time streaming capability using Apache Kafka</a:t>
            </a:r>
          </a:p>
          <a:p>
            <a:r>
              <a:rPr lang="en-US" sz="2000" dirty="0"/>
              <a:t>• Databricks-powered PySpark processing</a:t>
            </a:r>
          </a:p>
          <a:p>
            <a:r>
              <a:rPr lang="en-US" sz="2000" dirty="0"/>
              <a:t>• Automated workflow orchestration using Airflow</a:t>
            </a:r>
          </a:p>
          <a:p>
            <a:r>
              <a:rPr lang="en-US" sz="2000" dirty="0"/>
              <a:t>• Star Schema Data Warehouse for analytics</a:t>
            </a:r>
          </a:p>
          <a:p>
            <a:r>
              <a:rPr lang="en-US" sz="2000" dirty="0"/>
              <a:t>• Machine Learning based predictive analytics</a:t>
            </a:r>
          </a:p>
          <a:p>
            <a:r>
              <a:rPr lang="en-US" sz="2000" dirty="0"/>
              <a:t>• CI/CD automation using GitHub Actions</a:t>
            </a:r>
          </a:p>
          <a:p>
            <a:r>
              <a:rPr lang="en-US" sz="2000" dirty="0"/>
              <a:t>• Interactive Streamlit dashboard for reporting</a:t>
            </a:r>
            <a:endParaRPr lang="en-GB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7C65BD-CB16-3B70-AAB3-3E8AD15ABB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999" y="167148"/>
            <a:ext cx="5538020" cy="644996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20376082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12E99EA-14CC-B5DA-FAC1-06D1C1FCED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961" y="486683"/>
            <a:ext cx="6735097" cy="572731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745D448-96A8-22C8-8D13-A404B6F56388}"/>
              </a:ext>
            </a:extLst>
          </p:cNvPr>
          <p:cNvSpPr txBox="1"/>
          <p:nvPr/>
        </p:nvSpPr>
        <p:spPr>
          <a:xfrm>
            <a:off x="7246374" y="2151173"/>
            <a:ext cx="6096000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b="1" dirty="0"/>
              <a:t>Data Collection &amp; AWS S3</a:t>
            </a:r>
          </a:p>
          <a:p>
            <a:endParaRPr lang="en-GB" dirty="0"/>
          </a:p>
          <a:p>
            <a:r>
              <a:rPr lang="en-GB" sz="2000" dirty="0"/>
              <a:t>• Healthcare dataset containing 5000 records.</a:t>
            </a:r>
          </a:p>
          <a:p>
            <a:r>
              <a:rPr lang="en-GB" sz="2000" dirty="0"/>
              <a:t>• Data stored in AWS S3 cloud storage.</a:t>
            </a:r>
          </a:p>
          <a:p>
            <a:r>
              <a:rPr lang="en-GB" sz="2000" dirty="0"/>
              <a:t>• Centralized and scalable storage solution.</a:t>
            </a:r>
          </a:p>
          <a:p>
            <a:r>
              <a:rPr lang="en-GB" sz="2000" dirty="0"/>
              <a:t>• Source layer of the analytics pipeline.</a:t>
            </a:r>
          </a:p>
        </p:txBody>
      </p:sp>
    </p:spTree>
    <p:extLst>
      <p:ext uri="{BB962C8B-B14F-4D97-AF65-F5344CB8AC3E}">
        <p14:creationId xmlns:p14="http://schemas.microsoft.com/office/powerpoint/2010/main" val="924977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1AD1189-E6F2-3558-F8C8-F5807F7273BD}"/>
              </a:ext>
            </a:extLst>
          </p:cNvPr>
          <p:cNvSpPr txBox="1"/>
          <p:nvPr/>
        </p:nvSpPr>
        <p:spPr>
          <a:xfrm>
            <a:off x="6902246" y="3742526"/>
            <a:ext cx="5034115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b="1" dirty="0"/>
              <a:t>ETL Pipeline, Airflow &amp; Kafka</a:t>
            </a:r>
          </a:p>
          <a:p>
            <a:endParaRPr lang="en-GB" dirty="0"/>
          </a:p>
          <a:p>
            <a:r>
              <a:rPr lang="en-GB" sz="2000" dirty="0"/>
              <a:t>• Extracted healthcare data from source files.</a:t>
            </a:r>
          </a:p>
          <a:p>
            <a:r>
              <a:rPr lang="en-GB" sz="2000" dirty="0"/>
              <a:t>• Performed data cleaning and transformation.</a:t>
            </a:r>
          </a:p>
          <a:p>
            <a:r>
              <a:rPr lang="en-GB" sz="2000" dirty="0"/>
              <a:t>• Loaded processed data into PostgreSQL.</a:t>
            </a:r>
          </a:p>
          <a:p>
            <a:r>
              <a:rPr lang="en-GB" sz="2000" dirty="0"/>
              <a:t>• Automated workflow using Apache Airflow </a:t>
            </a:r>
          </a:p>
          <a:p>
            <a:r>
              <a:rPr lang="en-GB" sz="2000" dirty="0"/>
              <a:t>   DAGs</a:t>
            </a:r>
            <a:r>
              <a:rPr lang="en-GB" dirty="0"/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FF5564-4C4B-D566-2B80-964345A7E4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490" y="148549"/>
            <a:ext cx="11759382" cy="275082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9E44BA4-29C8-BF7E-EC83-6F8F57AF29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981" y="3157589"/>
            <a:ext cx="6725265" cy="335136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6365303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5DC1450-F404-7C1E-5C15-83BF7BCC33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080" y="3460649"/>
            <a:ext cx="7406640" cy="1938798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961F9EA-CE0D-AE09-7B4D-87AE19A97A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080" y="1270818"/>
            <a:ext cx="7406640" cy="165919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FAEAC01-AAB0-F2E1-8A4A-43F7E109C019}"/>
              </a:ext>
            </a:extLst>
          </p:cNvPr>
          <p:cNvSpPr txBox="1"/>
          <p:nvPr/>
        </p:nvSpPr>
        <p:spPr>
          <a:xfrm>
            <a:off x="7764043" y="2635046"/>
            <a:ext cx="60960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/>
              <a:t>• Apache Kafka Producer-Consumer</a:t>
            </a:r>
          </a:p>
          <a:p>
            <a:r>
              <a:rPr lang="en-US" sz="2000" dirty="0"/>
              <a:t>   implementation</a:t>
            </a:r>
          </a:p>
          <a:p>
            <a:r>
              <a:rPr lang="en-US" sz="2000" dirty="0"/>
              <a:t>• Real-time healthcare message </a:t>
            </a:r>
          </a:p>
          <a:p>
            <a:r>
              <a:rPr lang="en-US" sz="2000" dirty="0"/>
              <a:t>   streaming demonstration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32929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8CC4748-A3E2-E458-ABFF-B841450C5EBD}"/>
              </a:ext>
            </a:extLst>
          </p:cNvPr>
          <p:cNvSpPr txBox="1"/>
          <p:nvPr/>
        </p:nvSpPr>
        <p:spPr>
          <a:xfrm>
            <a:off x="8268929" y="1049959"/>
            <a:ext cx="3657601" cy="4924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b="1" dirty="0"/>
              <a:t>Big Data Processing </a:t>
            </a:r>
          </a:p>
          <a:p>
            <a:r>
              <a:rPr lang="en-GB" sz="3200" b="1" dirty="0"/>
              <a:t>using PySpark &amp;</a:t>
            </a:r>
          </a:p>
          <a:p>
            <a:r>
              <a:rPr lang="en-GB" sz="3200" b="1" dirty="0"/>
              <a:t>Databricks</a:t>
            </a:r>
          </a:p>
          <a:p>
            <a:endParaRPr lang="en-GB" dirty="0"/>
          </a:p>
          <a:p>
            <a:r>
              <a:rPr lang="en-GB" sz="2000" dirty="0"/>
              <a:t>• Processed 5000 healthcare      records.</a:t>
            </a:r>
          </a:p>
          <a:p>
            <a:r>
              <a:rPr lang="en-GB" sz="2000" dirty="0"/>
              <a:t>• Generated disease distribution </a:t>
            </a:r>
          </a:p>
          <a:p>
            <a:r>
              <a:rPr lang="en-GB" sz="2000" dirty="0"/>
              <a:t>   analytics.</a:t>
            </a:r>
          </a:p>
          <a:p>
            <a:r>
              <a:rPr lang="en-GB" sz="2000" dirty="0"/>
              <a:t>• Calculated treatment cost statistics.</a:t>
            </a:r>
          </a:p>
          <a:p>
            <a:r>
              <a:rPr lang="en-GB" sz="2000" dirty="0"/>
              <a:t>• Enabled scalable big data processing.</a:t>
            </a:r>
          </a:p>
          <a:p>
            <a:r>
              <a:rPr lang="en-US" sz="2000" dirty="0"/>
              <a:t>• PySpark workflows validated using Databricks notebooks</a:t>
            </a:r>
            <a:endParaRPr lang="en-GB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35C0F8-6F62-A861-D75C-64D3093223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430" y="263013"/>
            <a:ext cx="7795538" cy="633197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8758823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775C524-ED56-081A-F58A-CB89C889FD09}"/>
              </a:ext>
            </a:extLst>
          </p:cNvPr>
          <p:cNvSpPr txBox="1"/>
          <p:nvPr/>
        </p:nvSpPr>
        <p:spPr>
          <a:xfrm>
            <a:off x="3146322" y="633627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Figure: Databricks Notebook Executing PySpark Processing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0C07F3-4B1C-2857-FD95-4B3C0DAF06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954" y="115217"/>
            <a:ext cx="11051458" cy="6086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65629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86C71BE-82D2-6080-76CD-F4BD40D7DFAB}"/>
              </a:ext>
            </a:extLst>
          </p:cNvPr>
          <p:cNvSpPr txBox="1"/>
          <p:nvPr/>
        </p:nvSpPr>
        <p:spPr>
          <a:xfrm>
            <a:off x="7256206" y="2986913"/>
            <a:ext cx="60960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b="1" dirty="0"/>
              <a:t>AWS RDS &amp; </a:t>
            </a:r>
          </a:p>
          <a:p>
            <a:r>
              <a:rPr lang="en-GB" sz="3200" b="1" dirty="0"/>
              <a:t>Data Warehouse</a:t>
            </a:r>
          </a:p>
          <a:p>
            <a:endParaRPr lang="en-GB" dirty="0"/>
          </a:p>
          <a:p>
            <a:r>
              <a:rPr lang="en-GB" sz="2000" dirty="0"/>
              <a:t>• PostgreSQL deployed on AWS RDS.</a:t>
            </a:r>
          </a:p>
          <a:p>
            <a:r>
              <a:rPr lang="en-GB" sz="2000" dirty="0"/>
              <a:t>• Star Schema data warehouse created.</a:t>
            </a:r>
          </a:p>
          <a:p>
            <a:r>
              <a:rPr lang="en-GB" sz="2000" dirty="0"/>
              <a:t>• Dimension tables for analytical reporting.</a:t>
            </a:r>
          </a:p>
          <a:p>
            <a:r>
              <a:rPr lang="en-GB" sz="2000" dirty="0"/>
              <a:t>• Fact table stores patient visit information.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1FBDE7C-2ACD-2E38-DD58-B95E65504E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129" y="2889995"/>
            <a:ext cx="6794090" cy="385284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DC0042A-D85B-83FB-4E74-FE0F988619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129" y="273951"/>
            <a:ext cx="11697561" cy="243975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5744456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E4477BC-B009-9F2D-792B-5ABADDF67C8C}"/>
              </a:ext>
            </a:extLst>
          </p:cNvPr>
          <p:cNvSpPr txBox="1"/>
          <p:nvPr/>
        </p:nvSpPr>
        <p:spPr>
          <a:xfrm>
            <a:off x="7639665" y="2396131"/>
            <a:ext cx="6096000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b="1" dirty="0"/>
              <a:t>Exploratory Data Analysis</a:t>
            </a:r>
          </a:p>
          <a:p>
            <a:endParaRPr lang="en-GB" dirty="0"/>
          </a:p>
          <a:p>
            <a:r>
              <a:rPr lang="en-GB" sz="2000" dirty="0"/>
              <a:t>• Disease distribution analysis.</a:t>
            </a:r>
          </a:p>
          <a:p>
            <a:r>
              <a:rPr lang="en-GB" sz="2000" dirty="0"/>
              <a:t>• Gender and city-wise analysis.</a:t>
            </a:r>
          </a:p>
          <a:p>
            <a:r>
              <a:rPr lang="en-GB" sz="2000" dirty="0"/>
              <a:t>• Admission status analysis.</a:t>
            </a:r>
          </a:p>
          <a:p>
            <a:r>
              <a:rPr lang="en-GB" sz="2000" dirty="0"/>
              <a:t>• Treatment cost statistics.</a:t>
            </a:r>
          </a:p>
          <a:p>
            <a:r>
              <a:rPr lang="en-GB" sz="2000" dirty="0"/>
              <a:t>• Generated healthcare insights.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95E666-E490-C7ED-937D-DC532D9369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130" y="247650"/>
            <a:ext cx="7373211" cy="636270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5559760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BB448C2-9C61-238F-4940-6D285C14ED9C}"/>
              </a:ext>
            </a:extLst>
          </p:cNvPr>
          <p:cNvSpPr txBox="1"/>
          <p:nvPr/>
        </p:nvSpPr>
        <p:spPr>
          <a:xfrm>
            <a:off x="680022" y="5051687"/>
            <a:ext cx="4324596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b="1" dirty="0"/>
              <a:t>Machine Learning Model</a:t>
            </a:r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D5C314-CBCF-CD42-FD1D-5ED2C119DB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733" y="286034"/>
            <a:ext cx="11472648" cy="372343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A475FCB-EE74-3C6C-AC91-FDF15EC93828}"/>
              </a:ext>
            </a:extLst>
          </p:cNvPr>
          <p:cNvSpPr txBox="1"/>
          <p:nvPr/>
        </p:nvSpPr>
        <p:spPr>
          <a:xfrm>
            <a:off x="6023057" y="4725490"/>
            <a:ext cx="60960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/>
              <a:t>• Random Forest Regressor implemented.</a:t>
            </a:r>
          </a:p>
          <a:p>
            <a:r>
              <a:rPr lang="en-GB" sz="2000" dirty="0"/>
              <a:t>• Treatment cost prediction performed.</a:t>
            </a:r>
          </a:p>
          <a:p>
            <a:r>
              <a:rPr lang="en-GB" sz="2000" dirty="0"/>
              <a:t>• Model trained on healthcare dataset.</a:t>
            </a:r>
          </a:p>
          <a:p>
            <a:r>
              <a:rPr lang="en-GB" sz="2000" dirty="0"/>
              <a:t>• Performance evaluated using MAE.</a:t>
            </a:r>
          </a:p>
        </p:txBody>
      </p:sp>
    </p:spTree>
    <p:extLst>
      <p:ext uri="{BB962C8B-B14F-4D97-AF65-F5344CB8AC3E}">
        <p14:creationId xmlns:p14="http://schemas.microsoft.com/office/powerpoint/2010/main" val="20320547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03B2267-BFCE-66E7-D000-E9D18EEFD2A0}"/>
              </a:ext>
            </a:extLst>
          </p:cNvPr>
          <p:cNvSpPr txBox="1"/>
          <p:nvPr/>
        </p:nvSpPr>
        <p:spPr>
          <a:xfrm>
            <a:off x="779206" y="4844210"/>
            <a:ext cx="60960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b="1" dirty="0"/>
              <a:t>CI/CD Automation using</a:t>
            </a:r>
          </a:p>
          <a:p>
            <a:r>
              <a:rPr lang="en-GB" sz="3200" b="1" dirty="0"/>
              <a:t>GitHub Actions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D172F4-AB06-A8D1-F0F8-223E1C869729}"/>
              </a:ext>
            </a:extLst>
          </p:cNvPr>
          <p:cNvSpPr txBox="1"/>
          <p:nvPr/>
        </p:nvSpPr>
        <p:spPr>
          <a:xfrm>
            <a:off x="5665837" y="4377422"/>
            <a:ext cx="6456108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/>
              <a:t>• GitHub Actions workflow implemented</a:t>
            </a:r>
          </a:p>
          <a:p>
            <a:r>
              <a:rPr lang="en-GB" sz="2000" dirty="0"/>
              <a:t>• Automated code validation and execution</a:t>
            </a:r>
          </a:p>
          <a:p>
            <a:r>
              <a:rPr lang="en-GB" sz="2000" dirty="0"/>
              <a:t>• Continuous Integration (CI) pipeline</a:t>
            </a:r>
          </a:p>
          <a:p>
            <a:r>
              <a:rPr lang="en-GB" sz="2000" dirty="0"/>
              <a:t>• Automatic workflow execution on </a:t>
            </a:r>
          </a:p>
          <a:p>
            <a:r>
              <a:rPr lang="en-GB" sz="2000" dirty="0"/>
              <a:t>   code updates</a:t>
            </a:r>
          </a:p>
          <a:p>
            <a:r>
              <a:rPr lang="en-GB" sz="2000" dirty="0"/>
              <a:t>• Improved deployment and maintenance </a:t>
            </a:r>
          </a:p>
          <a:p>
            <a:r>
              <a:rPr lang="en-GB" sz="2000" dirty="0"/>
              <a:t>   readiness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7ACE042-9936-B330-8F17-E45C9F244C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54" y="139602"/>
            <a:ext cx="12051891" cy="408267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3952216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28EFC9-B009-31E0-2BFA-83B6ADC518C1}"/>
              </a:ext>
            </a:extLst>
          </p:cNvPr>
          <p:cNvSpPr txBox="1"/>
          <p:nvPr/>
        </p:nvSpPr>
        <p:spPr>
          <a:xfrm>
            <a:off x="8313336" y="2092070"/>
            <a:ext cx="6096000" cy="2923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/>
              <a:t>Interactive Dashboard</a:t>
            </a:r>
          </a:p>
          <a:p>
            <a:endParaRPr lang="en-US" sz="3200" dirty="0"/>
          </a:p>
          <a:p>
            <a:r>
              <a:rPr lang="en-US" sz="2000" dirty="0"/>
              <a:t>• Healthcare KPIs and metrics</a:t>
            </a:r>
          </a:p>
          <a:p>
            <a:r>
              <a:rPr lang="en-US" sz="2000" dirty="0"/>
              <a:t>• Revenue and cost analysis</a:t>
            </a:r>
          </a:p>
          <a:p>
            <a:r>
              <a:rPr lang="en-US" sz="2000" dirty="0"/>
              <a:t>• Patient trend visualization</a:t>
            </a:r>
          </a:p>
          <a:p>
            <a:r>
              <a:rPr lang="en-US" sz="2000" dirty="0"/>
              <a:t>• Interactive filtering and reporting</a:t>
            </a:r>
          </a:p>
          <a:p>
            <a:r>
              <a:rPr lang="en-US" sz="2000" dirty="0"/>
              <a:t>• Live dashboard deployed on </a:t>
            </a:r>
          </a:p>
          <a:p>
            <a:r>
              <a:rPr lang="en-US" sz="2000" dirty="0"/>
              <a:t>   Streamlit Cloud</a:t>
            </a:r>
            <a:endParaRPr lang="en-GB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FCE401-1CA1-022C-36E6-E3148226D7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13" y="127820"/>
            <a:ext cx="8141110" cy="5830528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40CDD52-E3C5-40AD-4FBD-D98D06FEC311}"/>
              </a:ext>
            </a:extLst>
          </p:cNvPr>
          <p:cNvSpPr txBox="1"/>
          <p:nvPr/>
        </p:nvSpPr>
        <p:spPr>
          <a:xfrm>
            <a:off x="3713784" y="6103514"/>
            <a:ext cx="722179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Live Dashboard URL:</a:t>
            </a:r>
          </a:p>
          <a:p>
            <a:r>
              <a:rPr lang="en-GB" dirty="0">
                <a:hlinkClick r:id="rId3"/>
              </a:rPr>
              <a:t>https://medicare-healthcare-dashboard.streamlit.app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311083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2E96928-E3AF-658A-B9B5-615FA0379884}"/>
              </a:ext>
            </a:extLst>
          </p:cNvPr>
          <p:cNvSpPr txBox="1"/>
          <p:nvPr/>
        </p:nvSpPr>
        <p:spPr>
          <a:xfrm>
            <a:off x="1081549" y="458956"/>
            <a:ext cx="6096000" cy="6093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b="1" dirty="0"/>
              <a:t>Conclusion &amp; Future Scope</a:t>
            </a:r>
          </a:p>
          <a:p>
            <a:endParaRPr lang="en-GB" dirty="0"/>
          </a:p>
          <a:p>
            <a:r>
              <a:rPr lang="en-GB" sz="2000" dirty="0"/>
              <a:t>• Built a complete Healthcare Analytics Pipeline.</a:t>
            </a:r>
          </a:p>
          <a:p>
            <a:r>
              <a:rPr lang="en-GB" sz="2000" dirty="0"/>
              <a:t>• </a:t>
            </a:r>
            <a:r>
              <a:rPr lang="en-US" sz="2000" dirty="0"/>
              <a:t>Integrated AWS S3, Apache Kafka, Databricks, </a:t>
            </a:r>
          </a:p>
          <a:p>
            <a:r>
              <a:rPr lang="en-US" sz="2000" dirty="0"/>
              <a:t>   Airflow, PySpark and PostgreSQL.</a:t>
            </a:r>
            <a:endParaRPr lang="en-GB" sz="2000" dirty="0"/>
          </a:p>
          <a:p>
            <a:r>
              <a:rPr lang="en-GB" sz="2000" dirty="0"/>
              <a:t>• Designed a Star Schema Data Warehouse.</a:t>
            </a:r>
          </a:p>
          <a:p>
            <a:r>
              <a:rPr lang="en-GB" sz="2000" dirty="0"/>
              <a:t>• Developed an Interactive Streamlit Dashboard.</a:t>
            </a:r>
          </a:p>
          <a:p>
            <a:r>
              <a:rPr lang="en-GB" sz="2000" dirty="0"/>
              <a:t>• Implemented Machine Learning based Analytics.</a:t>
            </a:r>
          </a:p>
          <a:p>
            <a:r>
              <a:rPr lang="en-US" sz="2000" dirty="0"/>
              <a:t>• Implemented GitHub Actions based CI/CD workflow.</a:t>
            </a:r>
            <a:endParaRPr lang="en-GB" sz="2000" dirty="0"/>
          </a:p>
          <a:p>
            <a:endParaRPr lang="en-GB" dirty="0"/>
          </a:p>
          <a:p>
            <a:r>
              <a:rPr lang="en-GB" sz="3200" b="1" dirty="0"/>
              <a:t>Future Scope</a:t>
            </a:r>
          </a:p>
          <a:p>
            <a:endParaRPr lang="en-GB" dirty="0"/>
          </a:p>
          <a:p>
            <a:r>
              <a:rPr lang="en-US" sz="2000" dirty="0"/>
              <a:t>• Snowflake Data Warehouse integration</a:t>
            </a:r>
          </a:p>
          <a:p>
            <a:r>
              <a:rPr lang="en-US" sz="2000" dirty="0"/>
              <a:t>• Kubernetes-based container orchestration</a:t>
            </a:r>
          </a:p>
          <a:p>
            <a:r>
              <a:rPr lang="en-US" sz="2000" dirty="0"/>
              <a:t>• Advanced predictive analytics</a:t>
            </a:r>
          </a:p>
          <a:p>
            <a:r>
              <a:rPr lang="en-US" sz="2000" dirty="0"/>
              <a:t>• Integration with hospital information systems</a:t>
            </a:r>
          </a:p>
          <a:p>
            <a:endParaRPr lang="en-GB" sz="2000" dirty="0"/>
          </a:p>
          <a:p>
            <a:r>
              <a:rPr lang="en-GB" sz="3200" b="1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6366134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</TotalTime>
  <Words>576</Words>
  <Application>Microsoft Office PowerPoint</Application>
  <PresentationFormat>Widescreen</PresentationFormat>
  <Paragraphs>113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Office Theme</vt:lpstr>
      <vt:lpstr>Healthcare Analytics Pipeline Project for Medicare Hospital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ARPIT SHARMA</dc:creator>
  <cp:lastModifiedBy>ARPIT SHARMA</cp:lastModifiedBy>
  <cp:revision>27</cp:revision>
  <dcterms:created xsi:type="dcterms:W3CDTF">2026-05-29T10:21:57Z</dcterms:created>
  <dcterms:modified xsi:type="dcterms:W3CDTF">2026-05-31T07:11:27Z</dcterms:modified>
</cp:coreProperties>
</file>