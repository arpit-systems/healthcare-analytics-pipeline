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3" r:id="rId11"/>
    <p:sldId id="264" r:id="rId12"/>
    <p:sldId id="269" r:id="rId13"/>
    <p:sldId id="265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D6177-CAEF-4E70-8DEE-78C553712586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3EDED-0833-4F63-A997-9302F708B9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181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3EDED-0833-4F63-A997-9302F708B90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56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4593-9A17-3CCD-F2CC-B6730941C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F0453-3CF1-EB13-E60E-6C7329B99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9F77-CCFA-F180-8279-AC69FEEC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ECAFA-8062-BD65-D9A8-BD72A92C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D4475-BC0E-14B1-1574-B9BDE369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15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B0AC-B5FC-9EE8-A353-D8301A4FA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0B89-910C-872A-8125-83C5DFE36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FF001-C265-565B-3F1A-80F87B9D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182-18BC-836E-1AAA-EBCDC17B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43061-F7D7-47F7-01C6-27622EFF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42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3552-A478-7FB5-D7C0-B3982469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BCC44-FB67-EEBA-9996-657A5B29B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49DAC-417A-9353-C65D-8E9D9B1B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E275C-9DA8-7706-AD01-628C93B4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3A39B-BC54-0ECE-8408-37B4AFC9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96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35AD-EF0C-7993-ED32-FDD27471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66482-6E33-B79E-F14B-164C26CD2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ED5A3-C039-CCDD-2263-5E1E18143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756DB-78FD-03C4-AB17-C137ABE8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92DE6-6E1B-94D1-8A1E-9CF4A026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3AFF5-4FBF-FAC7-35EA-2299F4A8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01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3F78-C447-4DBC-637B-9E020BEF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F5C2A-D429-E026-4B65-44DA17B5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0C504-3175-0207-BE02-0513E28E2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4D7BB-2C29-581E-54E0-621FB777E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2CF51-A1BB-89D7-9ADE-2A2A66F69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4DFB57-578E-E0A7-EDEF-2D7FC659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AF799-4AA3-374C-4363-9F150214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C8277-09A1-67DA-33F3-9897065E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49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9ABF-8C19-EA87-E93B-57CE6FD9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44E57-6A58-7708-987D-F6CF5C2FD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E79E9-D5AA-64D0-32C5-BF14002C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B360C-6DB2-0187-0828-CDEA22B1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8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CE59D-C419-5699-C7FE-31801CA5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07B1D-F7AA-BAAE-A0B4-C411740E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EC117-239C-6EE5-BACF-DD59CE2F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40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CE61-86FC-6208-68CF-EFBD88F5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79387-BE3E-2E11-61CF-7DFF36D90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84D61-1124-9EED-A6E0-6316AD07E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FC072-533A-ADF6-788E-EB74BF40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6263B-DF58-D54F-BEFB-356B3F8C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47186-9E11-1EE7-9AB2-EBC76CEB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13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F05A-0756-856E-A115-DA34273B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D5BD8-863D-8D14-2127-C0A74C3CC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0F512-BFF5-8BB1-CC1B-FADF9220D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996A0-9A07-59BE-3441-D591DDA2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FAB2D-E31A-C607-EB58-3014A3E6E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F4355-B4D5-1BE3-8556-06C45201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54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9154-D92F-3BBA-CE9C-6DE8B2EF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CB3EA-4F57-BAFE-11BF-3124F074D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74B3F-356B-5425-E0E2-49F72DE2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E8563-5042-C8EA-3CC9-7DE9D652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E5157-5981-5D12-1C36-20E9330C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05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B0073-839B-183E-6ADD-BDCBA5EBA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2EE59-BF67-D24F-A573-69CB7815A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296B6-7944-F546-115A-7356C369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9405-454C-AF61-8B09-F8DB6327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F8676-E1DE-A1CE-05C8-9071DA82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15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50CC4-447B-B5A7-C552-147252B2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DD0C1-186E-9594-6C7A-9DD42E09C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31424-0D1B-79F7-817E-F0E853BD9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2E463-7D50-B074-F0D9-6ABE630B7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BD63B-D878-4A32-B422-2334B446E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26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gJPl8zC-l_vYn_bC0B9SGhOb3Uhrsf_k/view?usp=sharing" TargetMode="External"/><Relationship Id="rId2" Type="http://schemas.openxmlformats.org/officeDocument/2006/relationships/hyperlink" Target="https://github.com/arpit-systems/healthcare-analytics-pipelin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care-healthcare-dashboard.streamlit.app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AF4E55-95E3-77DF-B8A5-BB8837685860}"/>
              </a:ext>
            </a:extLst>
          </p:cNvPr>
          <p:cNvSpPr txBox="1"/>
          <p:nvPr/>
        </p:nvSpPr>
        <p:spPr>
          <a:xfrm>
            <a:off x="0" y="547324"/>
            <a:ext cx="12191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Aptos" panose="020B0004020202020204" pitchFamily="34" charset="0"/>
              </a:rPr>
              <a:t>Healthcare Analytics Pipeline for MediCare Hospital</a:t>
            </a:r>
          </a:p>
          <a:p>
            <a:pPr algn="ctr"/>
            <a:r>
              <a:rPr lang="en-GB" sz="2400" dirty="0"/>
              <a:t>An End-to-End Scalable Data Engineering &amp; Analytics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58355-7FE7-E36D-36A8-BF180493B854}"/>
              </a:ext>
            </a:extLst>
          </p:cNvPr>
          <p:cNvSpPr txBox="1"/>
          <p:nvPr/>
        </p:nvSpPr>
        <p:spPr>
          <a:xfrm>
            <a:off x="599768" y="1905286"/>
            <a:ext cx="60960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Capstone Project</a:t>
            </a:r>
          </a:p>
          <a:p>
            <a:r>
              <a:rPr lang="en-GB" sz="2000" b="1" dirty="0"/>
              <a:t>Group Number: 3</a:t>
            </a:r>
          </a:p>
          <a:p>
            <a:endParaRPr lang="en-GB" sz="2000" dirty="0"/>
          </a:p>
          <a:p>
            <a:r>
              <a:rPr lang="en-GB" sz="2000" b="1" dirty="0"/>
              <a:t>Submitted By</a:t>
            </a:r>
          </a:p>
          <a:p>
            <a:endParaRPr lang="en-GB" dirty="0"/>
          </a:p>
          <a:p>
            <a:r>
              <a:rPr lang="en-GB" b="1" dirty="0"/>
              <a:t>     Name                            Roll Number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Ankita Dwivedi            G25AI1011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Arpit Sharma               G25AI1012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Astosh Ranjan             G25AI1013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Bharat Sharma            G25AI1014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Damini Khatri              G25AI1015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Post Graduate Diploma in Data Engineering (PGDDE)</a:t>
            </a:r>
          </a:p>
          <a:p>
            <a:r>
              <a:rPr lang="en-GB" b="1" dirty="0"/>
              <a:t>Indian Institute of Technology Jodhpur</a:t>
            </a:r>
          </a:p>
          <a:p>
            <a:r>
              <a:rPr lang="en-GB" b="1" dirty="0"/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760775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6A601D-D82D-E8B5-A89F-14B93464090B}"/>
              </a:ext>
            </a:extLst>
          </p:cNvPr>
          <p:cNvSpPr txBox="1"/>
          <p:nvPr/>
        </p:nvSpPr>
        <p:spPr>
          <a:xfrm>
            <a:off x="973393" y="26641"/>
            <a:ext cx="1024521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Problem Statement</a:t>
            </a:r>
          </a:p>
          <a:p>
            <a:endParaRPr lang="en-GB" sz="1200" dirty="0"/>
          </a:p>
          <a:p>
            <a:r>
              <a:rPr lang="en-GB" sz="2000" dirty="0"/>
              <a:t>• Healthcare data is generated from multiple sources.</a:t>
            </a:r>
          </a:p>
          <a:p>
            <a:r>
              <a:rPr lang="en-GB" sz="2000" dirty="0"/>
              <a:t>• Manual processing is slow and inefficient.</a:t>
            </a:r>
          </a:p>
          <a:p>
            <a:r>
              <a:rPr lang="en-GB" sz="2000" dirty="0"/>
              <a:t>• Data is often fragmented across systems.</a:t>
            </a:r>
          </a:p>
          <a:p>
            <a:r>
              <a:rPr lang="en-GB" sz="2000" dirty="0"/>
              <a:t>• Real-time analytics and reporting are difficult.</a:t>
            </a:r>
          </a:p>
          <a:p>
            <a:r>
              <a:rPr lang="en-GB" sz="2000" dirty="0"/>
              <a:t>• Need for an automated and scalable solution.</a:t>
            </a:r>
          </a:p>
          <a:p>
            <a:endParaRPr lang="en-GB" sz="1400" dirty="0"/>
          </a:p>
          <a:p>
            <a:r>
              <a:rPr lang="en-GB" sz="3200" b="1" dirty="0"/>
              <a:t>Objective</a:t>
            </a:r>
          </a:p>
          <a:p>
            <a:endParaRPr lang="en-GB" sz="1200" dirty="0"/>
          </a:p>
          <a:p>
            <a:r>
              <a:rPr lang="en-GB" sz="2000" dirty="0"/>
              <a:t>• Build an end-to-end Healthcare Analytics Pipeline.</a:t>
            </a:r>
            <a:br>
              <a:rPr lang="en-GB" sz="2000" dirty="0"/>
            </a:br>
            <a:r>
              <a:rPr lang="en-GB" sz="2000" dirty="0"/>
              <a:t>• Automate data ingestion, processing and analytics.</a:t>
            </a:r>
            <a:br>
              <a:rPr lang="en-GB" sz="2000" dirty="0"/>
            </a:br>
            <a:r>
              <a:rPr lang="en-GB" sz="2000" dirty="0"/>
              <a:t>• Generate business insights using dashboards and machine learning.</a:t>
            </a:r>
            <a:br>
              <a:rPr lang="en-GB" sz="2000" dirty="0"/>
            </a:br>
            <a:r>
              <a:rPr lang="en-GB" sz="2000" dirty="0"/>
              <a:t>• Enable scalable healthcare analytics by leveraging cloud services.</a:t>
            </a:r>
          </a:p>
          <a:p>
            <a:endParaRPr lang="en-GB" sz="1400" dirty="0"/>
          </a:p>
          <a:p>
            <a:r>
              <a:rPr lang="en-US" sz="3200" b="1" dirty="0"/>
              <a:t>Project Resources</a:t>
            </a:r>
          </a:p>
          <a:p>
            <a:endParaRPr lang="en-US" sz="1200" dirty="0"/>
          </a:p>
          <a:p>
            <a:r>
              <a:rPr lang="en-US" sz="2000" dirty="0"/>
              <a:t>• </a:t>
            </a:r>
            <a:r>
              <a:rPr lang="en-US" sz="2000" b="1" dirty="0"/>
              <a:t>GitHub Repository:</a:t>
            </a:r>
          </a:p>
          <a:p>
            <a:r>
              <a:rPr lang="en-US" sz="2000" dirty="0"/>
              <a:t>  </a:t>
            </a:r>
            <a:r>
              <a:rPr lang="en-US" sz="2000" dirty="0">
                <a:hlinkClick r:id="rId2"/>
              </a:rPr>
              <a:t>https://github.com/arpit-systems/healthcare-analytics-pipeline</a:t>
            </a:r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b="1" dirty="0"/>
              <a:t>Final Project Report:</a:t>
            </a:r>
          </a:p>
          <a:p>
            <a:r>
              <a:rPr lang="en-GB" sz="2000" dirty="0"/>
              <a:t> </a:t>
            </a:r>
            <a:r>
              <a:rPr lang="en-GB" sz="2000" dirty="0">
                <a:hlinkClick r:id="rId3"/>
              </a:rPr>
              <a:t>https://drive.google.com/file/d/1gJPl8zC-l_vYn_bC0B9SGhOb3Uhrsf_k/view?usp=sharing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4142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B4572C8-AA43-1CD6-AEA6-E125AFD33848}"/>
              </a:ext>
            </a:extLst>
          </p:cNvPr>
          <p:cNvSpPr txBox="1"/>
          <p:nvPr/>
        </p:nvSpPr>
        <p:spPr>
          <a:xfrm>
            <a:off x="6027174" y="1197620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Project Architecture</a:t>
            </a:r>
          </a:p>
          <a:p>
            <a:endParaRPr lang="en-US" sz="3200" b="1" dirty="0"/>
          </a:p>
          <a:p>
            <a:r>
              <a:rPr lang="en-US" sz="2000" dirty="0"/>
              <a:t>• </a:t>
            </a:r>
            <a:r>
              <a:rPr lang="en-GB" sz="2000" dirty="0"/>
              <a:t>Integrated Healthcare Data Engineering Architecture</a:t>
            </a:r>
          </a:p>
          <a:p>
            <a:r>
              <a:rPr lang="en-US" sz="2000" dirty="0"/>
              <a:t>• Real-time streaming capability using Apache Kafka</a:t>
            </a:r>
          </a:p>
          <a:p>
            <a:r>
              <a:rPr lang="en-US" sz="2000" dirty="0"/>
              <a:t>• Databricks-powered PySpark processing</a:t>
            </a:r>
          </a:p>
          <a:p>
            <a:r>
              <a:rPr lang="en-US" sz="2000" dirty="0"/>
              <a:t>• Automated workflow orchestration using Airflow</a:t>
            </a:r>
          </a:p>
          <a:p>
            <a:r>
              <a:rPr lang="en-US" sz="2000" dirty="0"/>
              <a:t>• Star Schema Data Warehouse for analytics</a:t>
            </a:r>
          </a:p>
          <a:p>
            <a:r>
              <a:rPr lang="en-US" sz="2000" dirty="0"/>
              <a:t>• Machine Learning based predictive analytics</a:t>
            </a:r>
          </a:p>
          <a:p>
            <a:r>
              <a:rPr lang="en-US" sz="2000" dirty="0"/>
              <a:t>• CI/CD automation using GitHub Actions</a:t>
            </a:r>
          </a:p>
          <a:p>
            <a:r>
              <a:rPr lang="en-US" sz="2000" dirty="0"/>
              <a:t>• Interactive Streamlit dashboard for reporting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C65BD-CB16-3B70-AAB3-3E8AD15AB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104" y="167148"/>
            <a:ext cx="5161809" cy="64499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3760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2E99EA-14CC-B5DA-FAC1-06D1C1FCE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" y="486683"/>
            <a:ext cx="6735097" cy="57273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45D448-96A8-22C8-8D13-A404B6F56388}"/>
              </a:ext>
            </a:extLst>
          </p:cNvPr>
          <p:cNvSpPr txBox="1"/>
          <p:nvPr/>
        </p:nvSpPr>
        <p:spPr>
          <a:xfrm>
            <a:off x="7246374" y="2151173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Data Collection &amp; AWS S3</a:t>
            </a:r>
          </a:p>
          <a:p>
            <a:endParaRPr lang="en-GB" dirty="0"/>
          </a:p>
          <a:p>
            <a:r>
              <a:rPr lang="en-GB" sz="2000" dirty="0"/>
              <a:t>• Healthcare dataset containing 5000 records.</a:t>
            </a:r>
          </a:p>
          <a:p>
            <a:r>
              <a:rPr lang="en-GB" sz="2000" dirty="0"/>
              <a:t>• Data stored in AWS S3 cloud storage.</a:t>
            </a:r>
          </a:p>
          <a:p>
            <a:r>
              <a:rPr lang="en-GB" sz="2000" dirty="0"/>
              <a:t>• Centralized and scalable storage solution.</a:t>
            </a:r>
          </a:p>
          <a:p>
            <a:r>
              <a:rPr lang="en-GB" sz="2000" dirty="0"/>
              <a:t>• Source layer of the analytics pipeline.</a:t>
            </a:r>
          </a:p>
        </p:txBody>
      </p:sp>
    </p:spTree>
    <p:extLst>
      <p:ext uri="{BB962C8B-B14F-4D97-AF65-F5344CB8AC3E}">
        <p14:creationId xmlns:p14="http://schemas.microsoft.com/office/powerpoint/2010/main" val="9249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AD1189-E6F2-3558-F8C8-F5807F7273BD}"/>
              </a:ext>
            </a:extLst>
          </p:cNvPr>
          <p:cNvSpPr txBox="1"/>
          <p:nvPr/>
        </p:nvSpPr>
        <p:spPr>
          <a:xfrm>
            <a:off x="7079226" y="3737693"/>
            <a:ext cx="503411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ETL Pipeline, Airflow &amp; Kafka</a:t>
            </a:r>
          </a:p>
          <a:p>
            <a:endParaRPr lang="en-GB" dirty="0"/>
          </a:p>
          <a:p>
            <a:r>
              <a:rPr lang="en-GB" sz="2000" dirty="0"/>
              <a:t>• Extracted healthcare data from source files.</a:t>
            </a:r>
          </a:p>
          <a:p>
            <a:r>
              <a:rPr lang="en-GB" sz="2000" dirty="0"/>
              <a:t>• Performed data cleaning and transformation.</a:t>
            </a:r>
          </a:p>
          <a:p>
            <a:r>
              <a:rPr lang="en-GB" sz="2000" dirty="0"/>
              <a:t>• Loaded processed data into PostgreSQL.</a:t>
            </a:r>
          </a:p>
          <a:p>
            <a:r>
              <a:rPr lang="en-GB" sz="2000" dirty="0"/>
              <a:t>• Automated workflow using Apache Airflow </a:t>
            </a:r>
          </a:p>
          <a:p>
            <a:r>
              <a:rPr lang="en-GB" sz="2000" dirty="0"/>
              <a:t>   DAGs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F5564-4C4B-D566-2B80-964345A7E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148549"/>
            <a:ext cx="11759382" cy="27508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44BA4-29C8-BF7E-EC83-6F8F57AF2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1" y="3157589"/>
            <a:ext cx="6725265" cy="33513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3653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DC1450-F404-7C1E-5C15-83BF7BCC3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3460649"/>
            <a:ext cx="7406640" cy="19387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61F9EA-CE0D-AE09-7B4D-87AE19A97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1270818"/>
            <a:ext cx="7406640" cy="16591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AEAC01-AAB0-F2E1-8A4A-43F7E109C019}"/>
              </a:ext>
            </a:extLst>
          </p:cNvPr>
          <p:cNvSpPr txBox="1"/>
          <p:nvPr/>
        </p:nvSpPr>
        <p:spPr>
          <a:xfrm>
            <a:off x="7764043" y="263504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• Apache Kafka Producer-Consumer</a:t>
            </a:r>
          </a:p>
          <a:p>
            <a:r>
              <a:rPr lang="en-US" sz="2000" dirty="0"/>
              <a:t>   implementation</a:t>
            </a:r>
          </a:p>
          <a:p>
            <a:r>
              <a:rPr lang="en-US" sz="2000" dirty="0"/>
              <a:t>• Real-time healthcare message </a:t>
            </a:r>
          </a:p>
          <a:p>
            <a:r>
              <a:rPr lang="en-US" sz="2000" dirty="0"/>
              <a:t>   streaming demonstration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292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CC4748-A3E2-E458-ABFF-B841450C5EBD}"/>
              </a:ext>
            </a:extLst>
          </p:cNvPr>
          <p:cNvSpPr txBox="1"/>
          <p:nvPr/>
        </p:nvSpPr>
        <p:spPr>
          <a:xfrm>
            <a:off x="8268929" y="1049959"/>
            <a:ext cx="3657601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Big Data Processing </a:t>
            </a:r>
          </a:p>
          <a:p>
            <a:r>
              <a:rPr lang="en-GB" sz="3200" b="1" dirty="0"/>
              <a:t>using PySpark &amp;</a:t>
            </a:r>
          </a:p>
          <a:p>
            <a:r>
              <a:rPr lang="en-GB" sz="3200" b="1" dirty="0"/>
              <a:t>Databricks</a:t>
            </a:r>
          </a:p>
          <a:p>
            <a:endParaRPr lang="en-GB" dirty="0"/>
          </a:p>
          <a:p>
            <a:r>
              <a:rPr lang="en-GB" sz="2000" dirty="0"/>
              <a:t>• Processed 5000 healthcare      records.</a:t>
            </a:r>
          </a:p>
          <a:p>
            <a:r>
              <a:rPr lang="en-GB" sz="2000" dirty="0"/>
              <a:t>• Generated disease distribution </a:t>
            </a:r>
          </a:p>
          <a:p>
            <a:r>
              <a:rPr lang="en-GB" sz="2000" dirty="0"/>
              <a:t>   analytics.</a:t>
            </a:r>
          </a:p>
          <a:p>
            <a:r>
              <a:rPr lang="en-GB" sz="2000" dirty="0"/>
              <a:t>• Calculated treatment cost statistics.</a:t>
            </a:r>
          </a:p>
          <a:p>
            <a:r>
              <a:rPr lang="en-GB" sz="2000" dirty="0"/>
              <a:t>• Enabled scalable big data processing.</a:t>
            </a:r>
          </a:p>
          <a:p>
            <a:r>
              <a:rPr lang="en-US" sz="2000" dirty="0"/>
              <a:t>• PySpark workflows validated using Databricks notebooks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5C0F8-6F62-A861-D75C-64D309322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30" y="263013"/>
            <a:ext cx="7795538" cy="6331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75882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75C524-ED56-081A-F58A-CB89C889FD09}"/>
              </a:ext>
            </a:extLst>
          </p:cNvPr>
          <p:cNvSpPr txBox="1"/>
          <p:nvPr/>
        </p:nvSpPr>
        <p:spPr>
          <a:xfrm>
            <a:off x="3146322" y="63362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Figure: Databricks Notebook Executing PySpark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C07F3-4B1C-2857-FD95-4B3C0DAF0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4" y="115217"/>
            <a:ext cx="11051458" cy="608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6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6C71BE-82D2-6080-76CD-F4BD40D7DFAB}"/>
              </a:ext>
            </a:extLst>
          </p:cNvPr>
          <p:cNvSpPr txBox="1"/>
          <p:nvPr/>
        </p:nvSpPr>
        <p:spPr>
          <a:xfrm>
            <a:off x="7256206" y="298691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AWS RDS &amp; </a:t>
            </a:r>
          </a:p>
          <a:p>
            <a:r>
              <a:rPr lang="en-GB" sz="3200" b="1" dirty="0"/>
              <a:t>Data Warehouse</a:t>
            </a:r>
          </a:p>
          <a:p>
            <a:endParaRPr lang="en-GB" dirty="0"/>
          </a:p>
          <a:p>
            <a:r>
              <a:rPr lang="en-GB" sz="2000" dirty="0"/>
              <a:t>• PostgreSQL deployed on AWS RDS.</a:t>
            </a:r>
          </a:p>
          <a:p>
            <a:r>
              <a:rPr lang="en-GB" sz="2000" dirty="0"/>
              <a:t>• Star Schema data warehouse created.</a:t>
            </a:r>
          </a:p>
          <a:p>
            <a:r>
              <a:rPr lang="en-GB" sz="2000" dirty="0"/>
              <a:t>• Dimension tables for analytical reporting.</a:t>
            </a:r>
          </a:p>
          <a:p>
            <a:r>
              <a:rPr lang="en-GB" sz="2000" dirty="0"/>
              <a:t>• Fact table stores patient visit information.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FBDE7C-2ACD-2E38-DD58-B95E65504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2889995"/>
            <a:ext cx="6794090" cy="38528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C0042A-D85B-83FB-4E74-FE0F98861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273951"/>
            <a:ext cx="11697561" cy="24397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444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4477BC-B009-9F2D-792B-5ABADDF67C8C}"/>
              </a:ext>
            </a:extLst>
          </p:cNvPr>
          <p:cNvSpPr txBox="1"/>
          <p:nvPr/>
        </p:nvSpPr>
        <p:spPr>
          <a:xfrm>
            <a:off x="7639665" y="2396131"/>
            <a:ext cx="6096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Exploratory Data Analysis</a:t>
            </a:r>
          </a:p>
          <a:p>
            <a:endParaRPr lang="en-GB" dirty="0"/>
          </a:p>
          <a:p>
            <a:r>
              <a:rPr lang="en-GB" sz="2000" dirty="0"/>
              <a:t>• Disease distribution analysis.</a:t>
            </a:r>
          </a:p>
          <a:p>
            <a:r>
              <a:rPr lang="en-GB" sz="2000" dirty="0"/>
              <a:t>• Gender and city-wise analysis.</a:t>
            </a:r>
          </a:p>
          <a:p>
            <a:r>
              <a:rPr lang="en-GB" sz="2000" dirty="0"/>
              <a:t>• Admission status analysis.</a:t>
            </a:r>
          </a:p>
          <a:p>
            <a:r>
              <a:rPr lang="en-GB" sz="2000" dirty="0"/>
              <a:t>• Treatment cost statistics.</a:t>
            </a:r>
          </a:p>
          <a:p>
            <a:r>
              <a:rPr lang="en-GB" sz="2000" dirty="0"/>
              <a:t>• Generated healthcare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5E666-E490-C7ED-937D-DC532D936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0" y="247650"/>
            <a:ext cx="7373211" cy="6362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55976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B448C2-9C61-238F-4940-6D285C14ED9C}"/>
              </a:ext>
            </a:extLst>
          </p:cNvPr>
          <p:cNvSpPr txBox="1"/>
          <p:nvPr/>
        </p:nvSpPr>
        <p:spPr>
          <a:xfrm>
            <a:off x="680022" y="5051687"/>
            <a:ext cx="432459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Machine Learning Model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5C314-CBCF-CD42-FD1D-5ED2C119D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33" y="286034"/>
            <a:ext cx="11472648" cy="3723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475FCB-EE74-3C6C-AC91-FDF15EC93828}"/>
              </a:ext>
            </a:extLst>
          </p:cNvPr>
          <p:cNvSpPr txBox="1"/>
          <p:nvPr/>
        </p:nvSpPr>
        <p:spPr>
          <a:xfrm>
            <a:off x="6023057" y="472549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• Random Forest Regressor implemented.</a:t>
            </a:r>
          </a:p>
          <a:p>
            <a:r>
              <a:rPr lang="en-GB" sz="2000" dirty="0"/>
              <a:t>• Treatment cost prediction performed.</a:t>
            </a:r>
          </a:p>
          <a:p>
            <a:r>
              <a:rPr lang="en-GB" sz="2000" dirty="0"/>
              <a:t>• Model trained on healthcare dataset.</a:t>
            </a:r>
          </a:p>
          <a:p>
            <a:r>
              <a:rPr lang="en-GB" sz="2000" dirty="0"/>
              <a:t>• Performance evaluated using MAE.</a:t>
            </a:r>
          </a:p>
        </p:txBody>
      </p:sp>
    </p:spTree>
    <p:extLst>
      <p:ext uri="{BB962C8B-B14F-4D97-AF65-F5344CB8AC3E}">
        <p14:creationId xmlns:p14="http://schemas.microsoft.com/office/powerpoint/2010/main" val="2032054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3B2267-BFCE-66E7-D000-E9D18EEFD2A0}"/>
              </a:ext>
            </a:extLst>
          </p:cNvPr>
          <p:cNvSpPr txBox="1"/>
          <p:nvPr/>
        </p:nvSpPr>
        <p:spPr>
          <a:xfrm>
            <a:off x="779206" y="484421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CI/CD Automation using</a:t>
            </a:r>
          </a:p>
          <a:p>
            <a:r>
              <a:rPr lang="en-GB" sz="3200" b="1" dirty="0"/>
              <a:t>GitHub 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172F4-AB06-A8D1-F0F8-223E1C869729}"/>
              </a:ext>
            </a:extLst>
          </p:cNvPr>
          <p:cNvSpPr txBox="1"/>
          <p:nvPr/>
        </p:nvSpPr>
        <p:spPr>
          <a:xfrm>
            <a:off x="5665837" y="4377422"/>
            <a:ext cx="64561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• GitHub Actions workflow implemented</a:t>
            </a:r>
          </a:p>
          <a:p>
            <a:r>
              <a:rPr lang="en-GB" sz="2000" dirty="0"/>
              <a:t>• Automated code validation and execution</a:t>
            </a:r>
          </a:p>
          <a:p>
            <a:r>
              <a:rPr lang="en-GB" sz="2000" dirty="0"/>
              <a:t>• Continuous Integration (CI) pipeline</a:t>
            </a:r>
          </a:p>
          <a:p>
            <a:r>
              <a:rPr lang="en-GB" sz="2000" dirty="0"/>
              <a:t>• Automatic workflow execution on </a:t>
            </a:r>
          </a:p>
          <a:p>
            <a:r>
              <a:rPr lang="en-GB" sz="2000" dirty="0"/>
              <a:t>   code updates</a:t>
            </a:r>
          </a:p>
          <a:p>
            <a:r>
              <a:rPr lang="en-GB" sz="2000" dirty="0"/>
              <a:t>• Improved deployment and maintenance </a:t>
            </a:r>
          </a:p>
          <a:p>
            <a:r>
              <a:rPr lang="en-GB" sz="2000" dirty="0"/>
              <a:t>   readiness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ACE042-9936-B330-8F17-E45C9F244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4" y="139602"/>
            <a:ext cx="12051891" cy="40826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95221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28EFC9-B009-31E0-2BFA-83B6ADC518C1}"/>
              </a:ext>
            </a:extLst>
          </p:cNvPr>
          <p:cNvSpPr txBox="1"/>
          <p:nvPr/>
        </p:nvSpPr>
        <p:spPr>
          <a:xfrm>
            <a:off x="8313336" y="2092070"/>
            <a:ext cx="6096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Interactive Dashboard</a:t>
            </a:r>
          </a:p>
          <a:p>
            <a:endParaRPr lang="en-US" sz="3200" dirty="0"/>
          </a:p>
          <a:p>
            <a:r>
              <a:rPr lang="en-US" sz="2000" dirty="0"/>
              <a:t>• Healthcare KPIs and metrics</a:t>
            </a:r>
          </a:p>
          <a:p>
            <a:r>
              <a:rPr lang="en-US" sz="2000" dirty="0"/>
              <a:t>• Revenue and cost analysis</a:t>
            </a:r>
          </a:p>
          <a:p>
            <a:r>
              <a:rPr lang="en-US" sz="2000" dirty="0"/>
              <a:t>• Patient trend visualization</a:t>
            </a:r>
          </a:p>
          <a:p>
            <a:r>
              <a:rPr lang="en-US" sz="2000" dirty="0"/>
              <a:t>• Interactive filtering and reporting</a:t>
            </a:r>
          </a:p>
          <a:p>
            <a:r>
              <a:rPr lang="en-US" sz="2000" dirty="0"/>
              <a:t>• Live dashboard deployed on </a:t>
            </a:r>
          </a:p>
          <a:p>
            <a:r>
              <a:rPr lang="en-US" sz="2000" dirty="0"/>
              <a:t>   Streamlit Cloud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CE401-1CA1-022C-36E6-E3148226D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3" y="127820"/>
            <a:ext cx="8141110" cy="58305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0CDD52-E3C5-40AD-4FBD-D98D06FEC311}"/>
              </a:ext>
            </a:extLst>
          </p:cNvPr>
          <p:cNvSpPr txBox="1"/>
          <p:nvPr/>
        </p:nvSpPr>
        <p:spPr>
          <a:xfrm>
            <a:off x="3713784" y="6103514"/>
            <a:ext cx="7221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Live Dashboard URL:</a:t>
            </a:r>
          </a:p>
          <a:p>
            <a:r>
              <a:rPr lang="en-GB" dirty="0">
                <a:hlinkClick r:id="rId3"/>
              </a:rPr>
              <a:t>https://medicare-healthcare-dashboard.streamlit.app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110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76A29-32A1-E3DB-FCB8-13D27EFFB57D}"/>
              </a:ext>
            </a:extLst>
          </p:cNvPr>
          <p:cNvSpPr txBox="1"/>
          <p:nvPr/>
        </p:nvSpPr>
        <p:spPr>
          <a:xfrm>
            <a:off x="1071717" y="566678"/>
            <a:ext cx="9635612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Key Results Achieved</a:t>
            </a:r>
          </a:p>
          <a:p>
            <a:pPr>
              <a:buNone/>
            </a:pPr>
            <a:endParaRPr lang="en-GB" sz="28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Processed </a:t>
            </a:r>
            <a:r>
              <a:rPr lang="en-GB" b="1" dirty="0"/>
              <a:t>5000+ healthcare records</a:t>
            </a:r>
            <a:r>
              <a:rPr lang="en-GB" dirty="0"/>
              <a:t> through an end-to-end analytics pipeline.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Built a healthcare data engineering and analytics platform using AWS S3, PostgreSQL, </a:t>
            </a:r>
          </a:p>
          <a:p>
            <a:pPr algn="just"/>
            <a:r>
              <a:rPr lang="en-GB" dirty="0"/>
              <a:t>       Airflow, PySpark, and Databricks.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Implemented </a:t>
            </a:r>
            <a:r>
              <a:rPr lang="en-GB" b="1" dirty="0"/>
              <a:t>real-time healthcare data streaming</a:t>
            </a:r>
            <a:r>
              <a:rPr lang="en-GB" dirty="0"/>
              <a:t> using Apache Kafka.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Developed an </a:t>
            </a:r>
            <a:r>
              <a:rPr lang="en-GB" b="1" dirty="0"/>
              <a:t>interactive Streamlit dashboard</a:t>
            </a:r>
            <a:r>
              <a:rPr lang="en-GB" dirty="0"/>
              <a:t> with dynamic filtering and KPI visualization.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Generated </a:t>
            </a:r>
            <a:r>
              <a:rPr lang="en-GB" b="1" dirty="0"/>
              <a:t>disease distribution, treatment cost, admission trends, and patient analytics</a:t>
            </a:r>
            <a:r>
              <a:rPr lang="en-GB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Integrated </a:t>
            </a:r>
            <a:r>
              <a:rPr lang="en-GB" b="1" dirty="0"/>
              <a:t>Machine Learning (Random Forest)</a:t>
            </a:r>
            <a:r>
              <a:rPr lang="en-GB" dirty="0"/>
              <a:t> for predictive healthcare analytics.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Implemented </a:t>
            </a:r>
            <a:r>
              <a:rPr lang="en-GB" b="1" dirty="0"/>
              <a:t>GitHub Actions CI/CD automation</a:t>
            </a:r>
            <a:r>
              <a:rPr lang="en-GB" dirty="0"/>
              <a:t> for workflow validation and </a:t>
            </a:r>
          </a:p>
          <a:p>
            <a:pPr algn="just"/>
            <a:r>
              <a:rPr lang="en-GB" dirty="0"/>
              <a:t>       deployment readiness.</a:t>
            </a:r>
          </a:p>
          <a:p>
            <a:pPr algn="just"/>
            <a:endParaRPr lang="en-GB" dirty="0"/>
          </a:p>
          <a:p>
            <a:pPr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8D9886-49D7-7936-85ED-21E7D8A2D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4" y="4365524"/>
            <a:ext cx="5043949" cy="2158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39FDF8-0A37-9338-00E9-D0C94A293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9961" y="4365524"/>
            <a:ext cx="5043949" cy="215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94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A1AC31-2B9D-1AD1-06C6-B5C0D4B32E90}"/>
              </a:ext>
            </a:extLst>
          </p:cNvPr>
          <p:cNvSpPr txBox="1"/>
          <p:nvPr/>
        </p:nvSpPr>
        <p:spPr>
          <a:xfrm>
            <a:off x="1081548" y="458956"/>
            <a:ext cx="10363199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Conclusion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Built a complete Healthcare Analytics Pipeline.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Integrated AWS S3, Apache Kafka, Databricks, Airflow, PySpark and PostgreSQL.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Designed a Star Schema Data Warehouse.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Developed an Interactive Streamlit Dashboard.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Implemented Machine Learning based Analytics.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Implemented GitHub Actions based CI/CD workflow.</a:t>
            </a:r>
          </a:p>
          <a:p>
            <a:endParaRPr lang="en-US" sz="2000" dirty="0"/>
          </a:p>
          <a:p>
            <a:r>
              <a:rPr lang="en-GB" sz="3200" b="1" dirty="0"/>
              <a:t>Future Scope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Snowflake Data Warehouse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Kubernetes-based Container Orchestration.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Production-grade Apache Kafka Streaming.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Integration with Hospital Information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Advanced Predictive Analytics &amp; Real-time Alerts.</a:t>
            </a:r>
            <a:endParaRPr lang="en-GB" sz="2000" dirty="0"/>
          </a:p>
          <a:p>
            <a:pPr algn="ctr"/>
            <a:r>
              <a:rPr lang="en-GB" sz="2800" b="1" dirty="0"/>
              <a:t>                                                    </a:t>
            </a:r>
          </a:p>
          <a:p>
            <a:pPr algn="ctr"/>
            <a:r>
              <a:rPr lang="en-GB" sz="2800" b="1" dirty="0"/>
              <a:t>Thank You!                                                   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3829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735</Words>
  <Application>Microsoft Office PowerPoint</Application>
  <PresentationFormat>Widescreen</PresentationFormat>
  <Paragraphs>142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 SHARMA</dc:creator>
  <cp:lastModifiedBy>ARPIT SHARMA</cp:lastModifiedBy>
  <cp:revision>52</cp:revision>
  <dcterms:created xsi:type="dcterms:W3CDTF">2026-05-29T10:21:57Z</dcterms:created>
  <dcterms:modified xsi:type="dcterms:W3CDTF">2026-07-03T15:12:33Z</dcterms:modified>
</cp:coreProperties>
</file>